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713aef6c1c4ee7" /><Relationship Type="http://schemas.openxmlformats.org/officeDocument/2006/relationships/extended-properties" Target="/docProps/app.xml" Id="Rbd92723cabc0479b" /><Relationship Type="http://schemas.openxmlformats.org/officeDocument/2006/relationships/officeDocument" Target="/ppt/presentation.xml" Id="R97fc0bdf0c4f4b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ddcf483a04e7f"/>
  </p:sldMasterIdLst>
  <p:notesMasterIdLst>
    <p:notesMasterId xmlns:r="http://schemas.openxmlformats.org/officeDocument/2006/relationships" r:id="Rcb8a3f6e798c43d7"/>
  </p:notesMasterIdLst>
  <p:sldIdLst>
    <p:sldId xmlns:r="http://schemas.openxmlformats.org/officeDocument/2006/relationships" id="256" r:id="Red5c286f669b4678"/>
    <p:sldId xmlns:r="http://schemas.openxmlformats.org/officeDocument/2006/relationships" id="257" r:id="Ra3f3e4db0d434b31"/>
    <p:sldId xmlns:r="http://schemas.openxmlformats.org/officeDocument/2006/relationships" id="258" r:id="R696a0d6a77e5477d"/>
    <p:sldId xmlns:r="http://schemas.openxmlformats.org/officeDocument/2006/relationships" id="259" r:id="R3d2a62b6bf9549a7"/>
    <p:sldId xmlns:r="http://schemas.openxmlformats.org/officeDocument/2006/relationships" id="260" r:id="Rb7e1306268b0402b"/>
    <p:sldId xmlns:r="http://schemas.openxmlformats.org/officeDocument/2006/relationships" id="261" r:id="R7cd7fc6853e24c48"/>
    <p:sldId xmlns:r="http://schemas.openxmlformats.org/officeDocument/2006/relationships" id="262" r:id="Rde02df6b573a4a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4f2708f88f4545" /><Relationship Type="http://schemas.openxmlformats.org/officeDocument/2006/relationships/slideMaster" Target="/ppt/slideMasters/slideMaster1.xml" Id="R81cddcf483a04e7f" /><Relationship Type="http://schemas.openxmlformats.org/officeDocument/2006/relationships/notesMaster" Target="/ppt/notesMasters/notesMaster1.xml" Id="Rcb8a3f6e798c43d7" /><Relationship Type="http://schemas.openxmlformats.org/officeDocument/2006/relationships/presProps" Target="/ppt/presProps.xml" Id="Rc77420b1e77d489a" /><Relationship Type="http://schemas.openxmlformats.org/officeDocument/2006/relationships/tableStyles" Target="/ppt/tableStyles.xml" Id="R51338a57552e4dd4" /><Relationship Type="http://schemas.openxmlformats.org/officeDocument/2006/relationships/slide" Target="/ppt/slides/slide1.xml" Id="Red5c286f669b4678" /><Relationship Type="http://schemas.openxmlformats.org/officeDocument/2006/relationships/slide" Target="/ppt/slides/slide2.xml" Id="Ra3f3e4db0d434b31" /><Relationship Type="http://schemas.openxmlformats.org/officeDocument/2006/relationships/slide" Target="/ppt/slides/slide3.xml" Id="R696a0d6a77e5477d" /><Relationship Type="http://schemas.openxmlformats.org/officeDocument/2006/relationships/slide" Target="/ppt/slides/slide4.xml" Id="R3d2a62b6bf9549a7" /><Relationship Type="http://schemas.openxmlformats.org/officeDocument/2006/relationships/slide" Target="/ppt/slides/slide5.xml" Id="Rb7e1306268b0402b" /><Relationship Type="http://schemas.openxmlformats.org/officeDocument/2006/relationships/slide" Target="/ppt/slides/slide6.xml" Id="R7cd7fc6853e24c48" /><Relationship Type="http://schemas.openxmlformats.org/officeDocument/2006/relationships/slide" Target="/ppt/slides/slide7.xml" Id="Rde02df6b573a4a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275fd50c4241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088be966074f61" /><Relationship Type="http://schemas.openxmlformats.org/officeDocument/2006/relationships/notesMaster" Target="/ppt/notesMasters/notesMaster1.xml" Id="Rb2265a5e27804b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7117575649402e" /><Relationship Type="http://schemas.openxmlformats.org/officeDocument/2006/relationships/notesMaster" Target="/ppt/notesMasters/notesMaster1.xml" Id="Rc3773dbdfbae45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d740be2aa940ea" /><Relationship Type="http://schemas.openxmlformats.org/officeDocument/2006/relationships/notesMaster" Target="/ppt/notesMasters/notesMaster1.xml" Id="Rb8ec03755def4d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9f882c71d14dc5" /><Relationship Type="http://schemas.openxmlformats.org/officeDocument/2006/relationships/notesMaster" Target="/ppt/notesMasters/notesMaster1.xml" Id="Rc68315e2757f4e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e9f7c72e4c45a9" /><Relationship Type="http://schemas.openxmlformats.org/officeDocument/2006/relationships/notesMaster" Target="/ppt/notesMasters/notesMaster1.xml" Id="R762197ba7f2a40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113c602d854ed3" /><Relationship Type="http://schemas.openxmlformats.org/officeDocument/2006/relationships/notesMaster" Target="/ppt/notesMasters/notesMaster1.xml" Id="Re5b4961779544f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aaeb2135e14ecd" /><Relationship Type="http://schemas.openxmlformats.org/officeDocument/2006/relationships/notesMaster" Target="/ppt/notesMasters/notesMaster1.xml" Id="R78b1c77777fe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itinerary: Beijing_Tianjin_Trip_3-7_Dec_2026_Detailed_v2.pdf. FX used only as a rough conversion, not a booking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Calculation: attraction admissions ¥1,912; First Class Beijing-Tianjin return ¥704 for four; direct Mutianyu bus allowance ¥400; urban transit and Didi ¥408; PEK airport rail+metro estimate ¥232. Sources on final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Palace Museum official tickets; Mutianyu official ticketing; Beijing Municipal ticketing pages for Jingshan and Temple of Heaven; Summer Palace official visitor page; Tianjin Eye price notice April 2026; Tianjin Porcelain House listing. Exact links on final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Beijing metro fare source: Beijing Subway/Beijing Government, fares start ¥3 and Capital Airport Express ¥25. Tianjin fare source: Tianjin Development and Reform Commission, ¥2-¥5 by station bands. Direct Mutianyu bus and Didi vary; allowance based on current available services and itinerary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Palace Museum official ticket policy states sales open 7 days prior. Mutianyu official notice says reservations available within 15 days. 12306 official rail booking is the purchase channel; itinerary source specifies around 21 Nov for 5 Dec. Tianjin Eye booking timing follows the supplied itinerary and should be rechecked on its official platform. Temple of Heaven and Summer Palace official pages specify their WeChat booking platforms.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based on itinerary traveler ages, luggage mentioned in itinerary, official booking terms, and winter safety considerations. No claim of weather 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sources listed visibly on slide. Trip itinerary source: Beijing_Tianjin_Trip_3-7_Dec_2026_Detailed_v2.pdf.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db1ae2e0a45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3d87c20ced4ec3" /><Relationship Type="http://schemas.openxmlformats.org/officeDocument/2006/relationships/slideLayout" Target="/ppt/slideLayouts/slideLayout1.xml" Id="R898c2238211147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8c2238211147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d9717abee4f16" /><Relationship Type="http://schemas.openxmlformats.org/officeDocument/2006/relationships/notesSlide" Target="/ppt/notesSlides/notesSlide1.xml" Id="R3c1a18ebc94b46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504baeb094df6" /><Relationship Type="http://schemas.openxmlformats.org/officeDocument/2006/relationships/chart" Target="/ppt/slides/charts/chart1.xml" Id="R05350066b0f94d0b" /><Relationship Type="http://schemas.openxmlformats.org/officeDocument/2006/relationships/notesSlide" Target="/ppt/notesSlides/notesSlide2.xml" Id="R42bc103bc30a40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8e232ce6245e9" /><Relationship Type="http://schemas.openxmlformats.org/officeDocument/2006/relationships/notesSlide" Target="/ppt/notesSlides/notesSlide3.xml" Id="R5d190bd30bb947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23e38740e44d1" /><Relationship Type="http://schemas.openxmlformats.org/officeDocument/2006/relationships/notesSlide" Target="/ppt/notesSlides/notesSlide4.xml" Id="R9d698af6c0ed46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74b4c223f466c" /><Relationship Type="http://schemas.openxmlformats.org/officeDocument/2006/relationships/notesSlide" Target="/ppt/notesSlides/notesSlide5.xml" Id="Ra40cfaf7df6d48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f88af0d844566" /><Relationship Type="http://schemas.openxmlformats.org/officeDocument/2006/relationships/notesSlide" Target="/ppt/notesSlides/notesSlide6.xml" Id="R70b6fb8f092544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f7ccb7c704e01" /><Relationship Type="http://schemas.openxmlformats.org/officeDocument/2006/relationships/notesSlide" Target="/ppt/notesSlides/notesSlide7.xml" Id="R38c3620275cf4bb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CNY</c:v>
          </c:tx>
          <c:spPr>
            <a:solidFill xmlns:a="http://schemas.openxmlformats.org/drawingml/2006/main">
              <a:srgbClr val="1E6F72"/>
            </a:solidFill>
          </c:spPr>
          <c:cat>
            <c:strRef>
              <c:f>'Chart Data'!$A$2:$A$6</c:f>
              <c:strCache>
                <c:ptCount val="5"/>
                <c:pt idx="0">
                  <c:v>ค่าเข้าสถานที่</c:v>
                </c:pt>
                <c:pt idx="1">
                  <c:v>รถไฟระหว่างเมือง</c:v>
                </c:pt>
                <c:pt idx="2">
                  <c:v>Mutianyu bus</c:v>
                </c:pt>
                <c:pt idx="3">
                  <c:v>Metro + Didi</c:v>
                </c:pt>
                <c:pt idx="4">
                  <c:v>สนามบิน PEK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1912</c:v>
                </c:pt>
                <c:pt idx="1">
                  <c:v>704</c:v>
                </c:pt>
                <c:pt idx="2">
                  <c:v>400</c:v>
                </c:pt>
                <c:pt idx="3">
                  <c:v>408</c:v>
                </c:pt>
                <c:pt idx="4">
                  <c:v>232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B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1162D-BF02-4B8D-95EE-ED7BF2A2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524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53124-78B8-42DB-B4E6-828266FF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ปักกิ่ง × เทียนจิน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0B769-6CC4-4476-89C8-29836D01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7DDD1"/>
                </a:solidFill>
                <a:latin typeface="Arial"/>
                <a:ea typeface="Arial"/>
                <a:cs typeface="Arial"/>
              </a:rPr>
              <a:t>งบค่าเข้าสถานที่ การเดินทาง และแผนการจอง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A69F1-716E-4FA3-A789-E30E919E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8A24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8A24A"/>
                </a:solidFill>
                <a:latin typeface="Arial"/>
                <a:ea typeface="Arial"/>
                <a:cs typeface="Arial"/>
              </a:rPr>
              <a:t>3–7 ธันวาคม 2026  |  ผู้เดินทาง 4 ผู้ใหญ่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110A0-E195-45DF-B43B-112C573C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ไม่รวมตั๋วเครื่องบิน โรงแรม และอาหาร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งบแนะนำ: ¥3,650–3,750 สำหรับทั้งกลุ่ม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7DBD2-A2BC-4C5E-A9E5-733103C5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244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4D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C4D4D5"/>
                </a:solidFill>
                <a:latin typeface="Arial"/>
                <a:ea typeface="Arial"/>
                <a:cs typeface="Arial"/>
              </a:rPr>
              <a:t>อัตราแลกเปลี่ยนโดยประมาณ ¥1 ≈ ฿4.9</a:t>
            </a:r>
          </a:p>
        </p:txBody>
      </p:sp>
    </p:spTree>
    <p:extLst>
      <p:ext uri="{BB962C8B-B14F-4D97-AF65-F5344CB8AC3E}">
        <p14:creationId xmlns:p14="http://schemas.microsoft.com/office/powerpoint/2010/main" val="1880482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5C94E-2457-4A1B-985C-6713DBBA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งบรวมที่แนะนำ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64619-66B7-4ACC-9455-07DD1833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6636C"/>
                </a:solidFill>
                <a:latin typeface="Arial"/>
                <a:ea typeface="Arial"/>
                <a:cs typeface="Arial"/>
              </a:rPr>
              <a:t>ใช้รถไฟ First Class, รถบัสตรงไป Mutianyu และ Didi ในเทียนจิน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C5E17-34FF-48D6-B8CA-BE17A851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1BF82-5EF6-42A1-AAB5-00AF7786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B6423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B64232"/>
                </a:solidFill>
                <a:latin typeface="Arial"/>
                <a:ea typeface="Arial"/>
                <a:cs typeface="Arial"/>
              </a:rPr>
              <a:t>¥3,656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75CB4-F5FA-42BF-BF66-047CABDA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6636C"/>
                </a:solidFill>
                <a:latin typeface="Arial"/>
                <a:ea typeface="Arial"/>
                <a:cs typeface="Arial"/>
              </a:rPr>
              <a:t>กรณีบินเข้าและออก PEK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89B11-002C-4E47-8AB7-29DBD42B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ประมาณ ฿17,900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5A4F2-7F1D-4123-81AF-AE770DB3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6636C"/>
                </a:solidFill>
                <a:latin typeface="Arial"/>
                <a:ea typeface="Arial"/>
                <a:cs typeface="Arial"/>
              </a:rPr>
              <a:t>ถ้าใช้สนามบิน PKX: เพิ่มราว ¥88</a:t>
            </a:r>
          </a:p>
          <a:p xmlns:a="http://schemas.openxmlformats.org/drawingml/2006/main">
            <a:pPr>
              <a:defRPr sz="135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6636C"/>
                </a:solidFill>
                <a:latin typeface="Arial"/>
                <a:ea typeface="Arial"/>
                <a:cs typeface="Arial"/>
              </a:rPr>
              <a:t>ถ้าเลือก Second Class: ลด ¥268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143500" y="1781175"/>
          <a:ext xmlns:a="http://schemas.openxmlformats.org/drawingml/2006/main" cx="5715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350066b0f94d0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2AEC5-E037-42F4-BA18-CE999C83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6636C"/>
                </a:solidFill>
                <a:latin typeface="Arial"/>
                <a:ea typeface="Arial"/>
                <a:cs typeface="Arial"/>
              </a:rPr>
              <a:t>ยอดนี้มีเงินเผื่อสำหรับ Didi แล้ว แต่ยังไม่รวมค่ารถจากสนามบินถึงโรงแรมตามตำแหน่งจริง</a:t>
            </a:r>
          </a:p>
        </p:txBody>
      </p:sp>
    </p:spTree>
    <p:extLst>
      <p:ext uri="{BB962C8B-B14F-4D97-AF65-F5344CB8AC3E}">
        <p14:creationId xmlns:p14="http://schemas.microsoft.com/office/powerpoint/2010/main" val="590572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12C81-8704-4DFD-8E4B-244A0020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ค่าเข้าสถานที่ตามวัน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2A4F9-94CD-429A-B05A-82827276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6636C"/>
                </a:solidFill>
                <a:latin typeface="Arial"/>
                <a:ea typeface="Arial"/>
                <a:cs typeface="Arial"/>
              </a:rPr>
              <a:t>ราคาผู้ใหญ่ 4 คน ช่วง low season ของเดือนธันวาคม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536B4-C6D1-461C-89FC-8B1865C2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31264"/>
                <a:gridCol w="5049520"/>
                <a:gridCol w="2019808"/>
                <a:gridCol w="2019808"/>
              </a:tblGrid>
              <a:tr h="4643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วัน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สถานที่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ต่อคน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 คน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3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Forbidden City + Jingshan Park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¥168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4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Mutianyu: เข้า + shuttle + cable car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¥800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5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Summer Palace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¥80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5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Tianjin Eye รอบกลางคืน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¥138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¥552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6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Porcelain House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¥200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7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Temple of Heaven บัตรรวม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¥112</a:t>
                      </a:r>
                    </a:p>
                  </a:txBody>
                  <a:tcPr marL="91440" marR="91440" marT="45720" marB="45720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รวม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¥1,912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1023B-A408-467D-BFE3-D906BBF7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6636C"/>
                </a:solidFill>
                <a:latin typeface="Arial"/>
                <a:ea typeface="Arial"/>
                <a:cs typeface="Arial"/>
              </a:rPr>
              <a:t>สถานที่ฟรี: Tiananmen Square, Wangfujing, Italian Style Area, Five Great Avenues และ Ancient Culture Street</a:t>
            </a:r>
          </a:p>
        </p:txBody>
      </p:sp>
    </p:spTree>
    <p:extLst>
      <p:ext uri="{BB962C8B-B14F-4D97-AF65-F5344CB8AC3E}">
        <p14:creationId xmlns:p14="http://schemas.microsoft.com/office/powerpoint/2010/main" val="444884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9259F-19C2-4E77-A307-33EC0F8F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ค่าเดินทาง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6A10A-0518-4482-8D8E-2CCA8645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6636C"/>
                </a:solidFill>
                <a:latin typeface="Arial"/>
                <a:ea typeface="Arial"/>
                <a:cs typeface="Arial"/>
              </a:rPr>
              <a:t>แยกต้นทุนที่กำหนดราคาได้จากงบเผื่อที่ขึ้นกับโรงแรมและเวลาเดินทาง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E678B-4216-48FF-B8F3-B4EC0B6B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048500" cy="3219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865306"/>
                <a:gridCol w="1591597"/>
                <a:gridCol w="1591597"/>
              </a:tblGrid>
              <a:tr h="4599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รายการ</a:t>
                      </a:r>
                    </a:p>
                  </a:txBody>
                  <a:tcPr marL="91440" marR="91440" marT="45720" marB="45720">
                    <a:solidFill>
                      <a:srgbClr val="B64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 คน</a:t>
                      </a:r>
                    </a:p>
                  </a:txBody>
                  <a:tcPr marL="91440" marR="91440" marT="45720" marB="45720">
                    <a:solidFill>
                      <a:srgbClr val="B64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สถานะ</a:t>
                      </a:r>
                    </a:p>
                  </a:txBody>
                  <a:tcPr marL="91440" marR="91440" marT="45720" marB="45720">
                    <a:solidFill>
                      <a:srgbClr val="B64232"/>
                    </a:solidFill>
                  </a:tcPr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รถไฟ Beijing South ↔ Tianjin, First Class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¥704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แนะนำ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รถบัสตรง Mutianyu ไป-กลับ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¥320–560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งบเผื่อ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Metro ปักกิ่งในเมือง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¥160–240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งบเผื่อ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Metro เทียนจิน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¥48–80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งบเผื่อ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Didi ในเทียนจิน 3–4 เที่ยว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¥90–140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งบเผื่อ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PEK airport rail + metro ไป/กลับ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¥232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ประมาณการ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046CD-84EE-4163-87F9-3A223700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Metro ปักกิ่ง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32D4A-BED8-4733-9573-1724A058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เริ่ม ¥3 ตามระยะทาง</a:t>
            </a:r>
          </a:p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Capital Airport Express ¥25/เที่ยว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300BC-8EE6-4406-B624-F9B8823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Metro เทียนจิน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E525F-B203-4C45-9ABF-597F6611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719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เริ่ม ¥2 และสูงสุด ¥5</a:t>
            </a:r>
          </a:p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สำหรับเส้นทางหลักในทริป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F51AE-1953-4EB3-A34F-D9EE3864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339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6636C"/>
                </a:solidFill>
                <a:latin typeface="Arial"/>
                <a:ea typeface="Arial"/>
                <a:cs typeface="Arial"/>
              </a:rPr>
              <a:t>Didi ไม่มีราคาตายตัว จึงตั้งงบแทนราคาแน่นอน</a:t>
            </a:r>
          </a:p>
        </p:txBody>
      </p:sp>
    </p:spTree>
    <p:extLst>
      <p:ext uri="{BB962C8B-B14F-4D97-AF65-F5344CB8AC3E}">
        <p14:creationId xmlns:p14="http://schemas.microsoft.com/office/powerpoint/2010/main" val="1767535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2602D-8258-44A2-BE98-ED448388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ปฏิทินการจอง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BC5B0-416A-4044-B1A7-0905798A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6636C"/>
                </a:solidFill>
                <a:latin typeface="Arial"/>
                <a:ea typeface="Arial"/>
                <a:cs typeface="Arial"/>
              </a:rPr>
              <a:t>นับถอยหลังจากวันเข้าแต่ละสถานที่ เพื่อให้ได้เวลาและที่นั่งตามแผน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F87C0-9E1A-4D92-AC11-76C3D6A5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5623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19561"/>
                <a:gridCol w="2427992"/>
                <a:gridCol w="3800336"/>
                <a:gridCol w="3272511"/>
              </a:tblGrid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วันที่ควรทำ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รายการ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ควรจองเมื่อไร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คำแนะนำ</a:t>
                      </a:r>
                    </a:p>
                  </a:txBody>
                  <a:tcPr marL="91440" marR="91440" marT="45720" marB="45720">
                    <a:solidFill>
                      <a:srgbClr val="1E6F72"/>
                    </a:solidFill>
                  </a:tcPr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18 พ.ย.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Mutianyu 3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เปิดจองล่วงหน้า 15 วัน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จองเข้า + shuttle + cable car ไปกลับพร้อมกัน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21 พ.ย.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รถไฟ 5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โดยปกติเปิดขาย 15 วันก่อนเดินทาง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จอง First Class 4 ที่นั่งใน 12306 ทันที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26 พ.ย. 20:00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Forbidden City 3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เปิดก่อนวันเข้า 7 วัน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ใช้พาสปอร์ต จองผ่านช่องทางทางการ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27 พ.ย.–2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Tianjin Eye 5 ธ.ค.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จองล่วงหน้า 3–7 วัน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เลือกรอบหลัง 18:00 ราคา ¥138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ภายใน 7 วันก่อนเข้า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Temple of Heaven / Summer Palace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เปิดตามระบบ WeChat ของสถานที่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ซื้อไว้เมื่อแผนเวลาแน่นอน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ก่อนเดินทาง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Tiananmen Square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ต้องจองช่วงเวลาเข้าพื้นที่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B3C"/>
                          </a:solidFill>
                          <a:latin typeface="Arial"/>
                          <a:ea typeface="Arial"/>
                          <a:cs typeface="Arial"/>
                        </a:rPr>
                        <a:t>ใช้ชื่อและพาสปอร์ตให้ตรงกับวันจริง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5C967-C609-4073-81DE-6BE8CC9B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0547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642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4232"/>
                </a:solidFill>
                <a:latin typeface="Arial"/>
                <a:ea typeface="Arial"/>
                <a:cs typeface="Arial"/>
              </a:rPr>
              <a:t>สำคัญ: ตรวจสอบเวลาเปิดขายใน 12306 อีกครั้ง เพราะตารางรถไฟและโควตาเปลี่ยนได้</a:t>
            </a:r>
          </a:p>
        </p:txBody>
      </p:sp>
    </p:spTree>
    <p:extLst>
      <p:ext uri="{BB962C8B-B14F-4D97-AF65-F5344CB8AC3E}">
        <p14:creationId xmlns:p14="http://schemas.microsoft.com/office/powerpoint/2010/main" val="160527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024FC-809F-4FC6-BE45-F63F7D8B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B3C"/>
                </a:solidFill>
                <a:latin typeface="Arial"/>
                <a:ea typeface="Arial"/>
                <a:cs typeface="Arial"/>
              </a:rPr>
              <a:t>ข้อแนะนำสำหรับทริปนี้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088B8-75CE-4153-A711-DDD84F0E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6636C"/>
                </a:solidFill>
                <a:latin typeface="Arial"/>
                <a:ea typeface="Arial"/>
                <a:cs typeface="Arial"/>
              </a:rPr>
              <a:t>เน้นเดินทางลื่น ลดการเดินชัน และลดโอกาสพลาดการจอง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256CA-6EB3-4D8E-9B09-35E31E7F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47D8E-392D-4434-96AC-4AB23880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66565-DF09-4CBA-B7B6-8DC38D77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24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รถไฟ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89189-B934-48F7-8EA6-850C95E6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24025"/>
            <a:ext cx="804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เลือก First Class ทั้งไปและกลับ. ต่างจาก Second Class รวม ¥268 สำหรับ 4 คน แต่เหมาะกว่าเมื่อมีกระเป๋า.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35808-6B9A-4AAE-9066-C2692E44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6DFD7-E564-4F2E-950A-650BAB18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Mutianyu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48B9D-AE1D-4A61-B1AC-1C366F7A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86025"/>
            <a:ext cx="804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ใช้ cable car ไป-กลับและ shuttle ของสถานที่. เดือนธันวาคมควรข้าม toboggan หากพื้นเปียกหรือมีน้ำแข็ง.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70DDE-0D6D-4277-8BE4-D005D1A7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3A782-CEE4-4963-B2A4-2DB6E434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48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การจอง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02364-C6AB-4996-8AD0-B1846C18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804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ตั้งเตือน 26 พ.ย. 20:00 สำหรับ Forbidden City. ถ้าเต็ม ให้ปรับเวลาในวันเดียวกัน ไม่ควรรอหน้าสถานที่.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B659B-FBA6-448F-94FF-3995D9FF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DBAC9-298C-496C-83F4-F857860F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0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สนามบิน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31FC0-A77C-4FBB-87CE-DABB5F3D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0025"/>
            <a:ext cx="804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ยืนยันว่าออก PEK หรือ PKX และส่งชื่อโรงแรมก่อนเดินทาง. รายการนี้เปลี่ยนเส้นทางและงบรถรับส่งมากที่สุด.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3FC4A-DA67-4318-886C-B8C0E0E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DA11C-1FA8-423E-87BE-75D8C9DF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72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F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72"/>
                </a:solidFill>
                <a:latin typeface="Arial"/>
                <a:ea typeface="Arial"/>
                <a:cs typeface="Arial"/>
              </a:rPr>
              <a:t>การจ่ายเงิน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54CDD-7694-4816-9146-DB7D67F3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72025"/>
            <a:ext cx="804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2B3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B3C"/>
                </a:solidFill>
                <a:latin typeface="Arial"/>
                <a:ea typeface="Arial"/>
                <a:cs typeface="Arial"/>
              </a:rPr>
              <a:t>ผูกบัตรต่างประเทศกับ Alipay หรือ WeChat Pay และพกพาสปอร์ตที่ใช้จองทุกสถานที่.</a:t>
            </a:r>
          </a:p>
        </p:txBody>
      </p:sp>
    </p:spTree>
    <p:extLst>
      <p:ext uri="{BB962C8B-B14F-4D97-AF65-F5344CB8AC3E}">
        <p14:creationId xmlns:p14="http://schemas.microsoft.com/office/powerpoint/2010/main" val="1367730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2B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864B5-A8ED-4B0B-96BC-E910638D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แหล่งข้อมูล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ACD2F-F80D-49F2-BF5C-AC1DA15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A24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D8A24A"/>
                </a:solidFill>
                <a:latin typeface="Arial"/>
                <a:ea typeface="Arial"/>
                <a:cs typeface="Arial"/>
              </a:rPr>
              <a:t>ราคาควรตรวจอีกครั้งก่อนชำระเงินจริง โดยเฉพาะรถไฟ Didi และรถบัส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B1B8C-2B0D-4EFC-86AD-32E8238B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Forbidden City: https://intl.dpm.org.cn/visit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0958A-EE31-4241-AB8A-990F61F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Mutianyu official ticketing: https://fx.mutianyugreatwall.com/fore/index?disCode=736798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CFB61-ED96-40CC-9578-E37D6F6A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Mutianyu visitor notice: https://en.mutianyugreatwall.com/article/4DlCYuBZ75h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CB485-03B7-4138-A554-650407A4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Temple of Heaven: https://english.beijing.gov.cn/specials/parktours/guidevisitors/templeofheaven/overview/202301/t20230112_2897365.html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79F85-BAB4-4F0F-AEED-3F269E9F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Jingshan Park: https://english.beijing.gov.cn/specials/ticketing/parks/202407/t20240719_3753324.html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CA70A-27B2-4A71-B6F1-B1EC28C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Summer Palace: https://english.visitbeijing.com.cn/article/4Jaqw6nQVBN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2E971-697A-4D9F-9DCC-0C96EEC5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Tianjin Eye price notice: https://m.tj.bendibao.com/xiuxian/167820.shtm?src=amap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14447-B086-4F5D-94D1-BDA9F325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Porcelain House: https://r.visitbeijing.com.cn/cultural-brigade/43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4BCEC-274C-4E1F-B050-2D8F4DBA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Beijing metro: https://english.beijing.gov.cn/specials/beijinglifeonthesubway/noticeforpassengers/202504/t20250423_4072294.html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05F86-6E37-4140-8F07-46BA9A14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Tianjin metro: https://fzgg.tj.gov.cn/zmhd/gzcx/syjgcx/kyfw/202112/t20211216_5752650.html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DB91D-8ABE-4AF9-9AA2-E0B37891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E7DDD1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E7DDD1"/>
                </a:solidFill>
                <a:latin typeface="Arial"/>
                <a:ea typeface="Arial"/>
                <a:cs typeface="Arial"/>
              </a:rPr>
              <a:t>China Railway 12306: https://www.12306.cn/en/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F9FD2-2DB3-4EC0-BB06-80AC5FCB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8A24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8A24A"/>
                </a:solidFill>
                <a:latin typeface="Arial"/>
                <a:ea typeface="Arial"/>
                <a:cs typeface="Arial"/>
              </a:rPr>
              <a:t>ใช้กำหนดการจากไฟล์ Beijing_Tianjin_Trip_3-7_Dec_2026_Detailed_v2.pdf</a:t>
            </a:r>
          </a:p>
        </p:txBody>
      </p:sp>
    </p:spTree>
    <p:extLst>
      <p:ext uri="{BB962C8B-B14F-4D97-AF65-F5344CB8AC3E}">
        <p14:creationId xmlns:p14="http://schemas.microsoft.com/office/powerpoint/2010/main" val="752216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2026-09-21T13:28:49.9010000Z</dcterms:created>
  <dcterms:modified xsi:type="dcterms:W3CDTF">2026-09-21T13:28:49.9010000Z</dcterms:modified>
</coreProperties>
</file>